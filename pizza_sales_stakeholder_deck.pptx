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 SALES ANALYTICS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Insights from a Year of Sales Data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128016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Stakeholder Review  |  FY2015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of order-level sales data was sitting in our database — but no one was turning it into decisions.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98064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7432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pizzas and categories actually drive revenue?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364992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31012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are we busiest — and are we staffed for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87705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revenue growing or shrinking, and in which months?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498848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44398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menu items are underperforming?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0" y="1371600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0" y="210312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these questions manually every week doesn't scale. Leadership needs a repeatable pipeline that turns raw sales data into decisions automatically — every time it's run.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SOLVED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five-step automated pipeline — from raw database to boardroom-ready report.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7028" y="2560320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1367028" y="2560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84048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SQL queries: joins, CTEs, window functions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0" y="3337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88920" y="228600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5868" y="2560320"/>
            <a:ext cx="512064" cy="5120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3515868" y="2560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98648" y="32461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Automation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98648" y="384048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query, saves structured results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3337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228600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4708" y="2560320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5664708" y="2560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47488" y="32461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Interpretation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47488" y="384048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insights tied to real numbers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0" y="3337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086600" y="228600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13548" y="2560320"/>
            <a:ext cx="512064" cy="5120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7813548" y="2560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96328" y="32461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96328" y="384048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 charts of key metrics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006840" y="3337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235440" y="228600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962388" y="2560320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0" name="Text 28"/>
          <p:cNvSpPr/>
          <p:nvPr/>
        </p:nvSpPr>
        <p:spPr>
          <a:xfrm>
            <a:off x="9962388" y="2560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45168" y="32461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45168" y="384048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+ AI narrative compiled into one PDF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5349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adding a new SQL query automatically flows into the AI report — no other code changes needed.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FY2015 full-year snapshot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3274A"/>
          </a:solidFill>
          <a:ln w="12700">
            <a:solidFill>
              <a:srgbClr val="3A3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$817,860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21945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3274A"/>
          </a:solidFill>
          <a:ln w="12700">
            <a:solidFill>
              <a:srgbClr val="3A3F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560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21,350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1945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3274A"/>
          </a:solidFill>
          <a:ln w="12700">
            <a:solidFill>
              <a:srgbClr val="3A3F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560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$38.31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21945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3274A"/>
          </a:solidFill>
          <a:ln w="12700">
            <a:solidFill>
              <a:srgbClr val="3A3F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560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6112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PIZZAS SOLD / DAY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as high as +9.95% (Nov) and fell as low as -8.09% (Dec) month-over-month, showing a business with clear seasonal swings rather than flat, predictable demand.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 OVER THE YEAR</a:t>
            </a:r>
            <a:endParaRPr lang="en-US" sz="2600" dirty="0"/>
          </a:p>
        </p:txBody>
      </p:sp>
      <p:pic>
        <p:nvPicPr>
          <p:cNvPr id="3" name="Image 0" descr="images/month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78638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32520" y="1234440"/>
            <a:ext cx="27889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96112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month: July ($72,558)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61120" y="25877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months: Sept–Oct (~$64,000)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61120" y="32095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growth: Nov (+9.95%)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0" y="383133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Sharpest decline: Dec (−8.09%)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Pizzas by Revenue</a:t>
            </a:r>
            <a:endParaRPr lang="en-US" sz="1400" dirty="0"/>
          </a:p>
        </p:txBody>
      </p:sp>
      <p:pic>
        <p:nvPicPr>
          <p:cNvPr id="4" name="Image 0" descr="images/top_pizz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39496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Sold by Category</a:t>
            </a:r>
            <a:endParaRPr lang="en-US" sz="1400" dirty="0"/>
          </a:p>
        </p:txBody>
      </p:sp>
      <p:pic>
        <p:nvPicPr>
          <p:cNvPr id="6" name="Image 1" descr="images/category_quant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3949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BEHAVIOR &amp; TIMING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Day of Week</a:t>
            </a:r>
            <a:endParaRPr lang="en-US" sz="1400" dirty="0"/>
          </a:p>
        </p:txBody>
      </p:sp>
      <p:pic>
        <p:nvPicPr>
          <p:cNvPr id="4" name="Image 0" descr="images/revenue_by_week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39496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Order Hours</a:t>
            </a:r>
            <a:endParaRPr lang="en-US" sz="1400" dirty="0"/>
          </a:p>
        </p:txBody>
      </p:sp>
      <p:pic>
        <p:nvPicPr>
          <p:cNvPr id="6" name="Image 1" descr="images/peak_hou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3949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 vs. WEEKEND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drive most of the volume — weekends convert slightly higher per order.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029200" cy="1097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$595,474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188720" y="3931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15,568 orders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4389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$38.25 AOV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210312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103120"/>
            <a:ext cx="5029200" cy="10972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28803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$222,386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766560" y="3931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5,782 orders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4389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$38.46 AOV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8978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weekday demand is the volume engine; weekend orders are fewer but slightly larger — a loyalty push could grow weekday frequency further.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AI-generated, tied directly to the KPIs above — not generic advice.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47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up during peak hours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03520" y="184708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coverage at 12pm, 1pm, and 6pm to match demand.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6243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Large pizzas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03520" y="26243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size drives 45.9% of revenue — reinforce upsell prompts.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401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underperformers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03520" y="340156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 Carre and similar low-volume pizzas may need rebranding or removal.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178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further in Classic category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03520" y="417880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contributor at 26.9% — protect and grow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83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9560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weekday loyalty incentives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03520" y="495604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already drive most revenue — reward repeat weekday orders.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TO WATCH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E8CA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920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December Dip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8.09% in December — plan promotions or staffing adjustments ahead of the winter slowdown.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E8CA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920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5603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Concentration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3375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top pizzas and the Large size drive an outsized share of revenue — a shift in preferences could hurt disproportionately.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E8CA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920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25603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SKUs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like The Brie Carre Pizza consistently sell far below average and may be diluting menu focus.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F9B4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recommendations with category &amp; marketing leads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F9B4B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651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Large-size upsell prompts for one month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384048" cy="384048"/>
          </a:xfrm>
          <a:prstGeom prst="ellipse">
            <a:avLst/>
          </a:prstGeom>
          <a:solidFill>
            <a:srgbClr val="F9B4B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3375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this report to regenerate monthly as new sales data lands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394960"/>
            <a:ext cx="128016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532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2026-07-28T11:47:25Z</dcterms:created>
  <dcterms:modified xsi:type="dcterms:W3CDTF">2026-07-28T11:47:25Z</dcterms:modified>
</cp:coreProperties>
</file>